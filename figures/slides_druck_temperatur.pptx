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2514E"/>
                </a:solidFill>
              </a:defRPr>
            </a:pPr>
            <a:r>
              <a:t>Firn temperature follows barometric pressure</a:t>
            </a:r>
          </a:p>
        </p:txBody>
      </p:sp>
      <p:pic>
        <p:nvPicPr>
          <p:cNvPr id="3" name="Picture 2" descr="fig3c_rohda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949440" cy="3397504"/>
          </a:xfrm>
          <a:prstGeom prst="rect">
            <a:avLst/>
          </a:prstGeom>
        </p:spPr>
      </p:pic>
      <p:pic>
        <p:nvPicPr>
          <p:cNvPr id="4" name="Picture 3" descr="fig3a_kopplung_tie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51560"/>
            <a:ext cx="4480560" cy="33604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9496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Raw data (left): firn temperature vs. air pressure, synoptic band. Two sites, one line per depth — the coupling is in the data, not in the statistics.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Depth dependence (right): measured against the parameter-free prediction b = φ/(ρ c), with no free parameter. Factor 0.95 ± 0.02 over 10 nodes, 7–30 m.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Kohnen B50 (6 months, 41 hPa) · GRIP double chain (2 months, 21 hPa) · Kohnen B46 (2 weeks, open symbols: shape only)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2514E"/>
                </a:solidFill>
              </a:defRPr>
            </a:pPr>
            <a:r>
              <a:t>A route to in-situ open porosity and close-off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A78D6"/>
                </a:solidFill>
              </a:defRPr>
            </a:pPr>
            <a:r>
              <a:t>Principle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A pressure rise pushes air into the connected pore space; the compression heat is absorbed by the ice matrix:</a:t>
            </a:r>
          </a:p>
          <a:p>
            <a:pPr>
              <a:spcAft>
                <a:spcPts val="600"/>
              </a:spcAft>
              <a:defRPr sz="1500" b="1">
                <a:solidFill>
                  <a:srgbClr val="2A78D6"/>
                </a:solidFill>
              </a:defRPr>
            </a:pPr>
            <a:r>
              <a:t>b = ΔT/Δp = φ_open / (ρ · c_ice)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Only pore space connected to the atmosphere responds — the functional quantity firn-air models need, not the geometric one from a core.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2A78D6"/>
                </a:solidFill>
              </a:defRPr>
            </a:pPr>
            <a:r>
              <a:t>Two read-outs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Backfilled hole: in-phase response → φ_open(z). With core density (φ_total = 1 − ρ/ρ_ice) the difference is the closed porosity.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Open borehole: response to dp/dt drops 4.5× between 75 and 92 m at B40 — the wall turns impermeable. The hole marks its own close-off.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972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A78D6"/>
                </a:solidFill>
              </a:defRPr>
            </a:pPr>
            <a:r>
              <a:t>Expected magnitudes (Kohnen)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0.09 mK/hPa at 1 m → 0.03 at 30 m → 0.006 at close-off (84 m); below: thermoelastic floor of ice, 0.002 mK/hPa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2A78D6"/>
                </a:solidFill>
              </a:defRPr>
            </a:pPr>
            <a:r>
              <a:t>Precision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0.1 mK per sample, σ_p = 5 hPa, 2 samples/day → φ_open to 0.6 % at 10 m, 5 % at close-off after 3 years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Lab pycnometry on cores: 2 % at low density, up to 20 % near close-off, plus cut-bubble and relaxation corrections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2A78D6"/>
                </a:solidFill>
              </a:defRPr>
            </a:pPr>
            <a:r>
              <a:t>What it needs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Thermistor chain in a backfilled hole through the lock-in zone · reference barometer within ~100 km, time-matched · ≥2 samples/day · 1–3 years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2A78D6"/>
                </a:solidFill>
              </a:defRPr>
            </a:pPr>
            <a:r>
              <a:t>Limits</a:t>
            </a:r>
          </a:p>
          <a:p>
            <a:pPr>
              <a:spcAft>
                <a:spcPts val="600"/>
              </a:spcAft>
              <a:defRPr sz="1500" b="0">
                <a:solidFill>
                  <a:srgbClr val="52514E"/>
                </a:solidFill>
              </a:defRPr>
            </a:pPr>
            <a:r>
              <a:t>Vertical resolution = node spacing (metres) — complementary to μCT, not a replacement. Absolute accuracy set by c_ice (~1 %).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